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0" y="457200"/>
            <a:ext cx="91440" cy="1371600"/>
          </a:xfrm>
          <a:prstGeom prst="rect">
            <a:avLst/>
          </a:prstGeom>
          <a:solidFill>
            <a:srgbClr val="FF0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0F0F0"/>
                </a:solidFill>
                <a:latin typeface="Microsoft YaHei"/>
              </a:defRPr>
            </a:pPr>
            <a:r>
              <a:t>我们的突围战：做AI短剧界的“超级工厂”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F0FF"/>
                </a:solidFill>
                <a:latin typeface="Microsoft YaHei"/>
              </a:defRPr>
            </a:pPr>
            <a:r>
              <a:t>不跟大厂抢流量，做包工头最爱的生产力工具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A0A0AA"/>
                </a:solidFill>
                <a:latin typeface="Microsoft YaHei"/>
              </a:defRPr>
            </a:pPr>
            <a:r>
              <a:t>汇报主题：PC端AI短剧生产平台竞品调研与立项规划</a:t>
            </a:r>
          </a:p>
          <a:p>
            <a:pPr algn="ctr">
              <a:defRPr sz="1800">
                <a:solidFill>
                  <a:srgbClr val="A0A0AA"/>
                </a:solidFill>
                <a:latin typeface="Microsoft YaHei"/>
              </a:defRPr>
            </a:pPr>
            <a:r>
              <a:t>汇报人：产品部</a:t>
            </a:r>
          </a:p>
          <a:p>
            <a:pPr algn="ctr">
              <a:defRPr sz="1800">
                <a:solidFill>
                  <a:srgbClr val="A0A0AA"/>
                </a:solidFill>
                <a:latin typeface="Microsoft YaHei"/>
              </a:defRPr>
            </a:pPr>
            <a:r>
              <a:t>汇报日期：2026年5月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0" y="457200"/>
            <a:ext cx="91440" cy="1371600"/>
          </a:xfrm>
          <a:prstGeom prst="rect">
            <a:avLst/>
          </a:prstGeom>
          <a:solidFill>
            <a:srgbClr val="FF0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0F0F0"/>
                </a:solidFill>
                <a:latin typeface="Microsoft YaHei"/>
              </a:defRPr>
            </a:pPr>
            <a:r>
              <a:t>[市场现状] 市场变天：横店没戏拍了，AI掀了桌子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F0FF"/>
                </a:solidFill>
                <a:latin typeface="Microsoft YaHei"/>
              </a:defRPr>
            </a:pPr>
            <a:r>
              <a:t>核心观点 | 真人短剧正被淘汰，AI短剧已经占据绝对统治地位。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F0F0F0"/>
                </a:solidFill>
                <a:latin typeface="Microsoft YaHei"/>
              </a:defRPr>
            </a:pPr>
            <a:r>
              <a:t>• 大盘数据：2026年Q1微短剧上线12.8万部，AI制作高达12.2万部。</a:t>
            </a:r>
          </a:p>
          <a:p>
            <a:pPr>
              <a:spcAft>
                <a:spcPts val="2000"/>
              </a:spcAft>
              <a:defRPr sz="2400" b="1">
                <a:solidFill>
                  <a:srgbClr val="FF003C"/>
                </a:solidFill>
                <a:latin typeface="Microsoft YaHei"/>
              </a:defRPr>
            </a:pPr>
            <a:r>
              <a:t>• 市场占比：AI短剧渗透率已超 95%！</a:t>
            </a:r>
          </a:p>
          <a:p>
            <a:pPr>
              <a:spcAft>
                <a:spcPts val="2000"/>
              </a:spcAft>
              <a:defRPr sz="2400">
                <a:solidFill>
                  <a:srgbClr val="F0F0F0"/>
                </a:solidFill>
                <a:latin typeface="Microsoft YaHei"/>
              </a:defRPr>
            </a:pPr>
            <a:r>
              <a:t>• 行业现状：传统剧组无戏可拍，算力（显卡）正在取代场地和群演。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0" y="457200"/>
            <a:ext cx="91440" cy="1371600"/>
          </a:xfrm>
          <a:prstGeom prst="rect">
            <a:avLst/>
          </a:prstGeom>
          <a:solidFill>
            <a:srgbClr val="FF0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0F0F0"/>
                </a:solidFill>
                <a:latin typeface="Microsoft YaHei"/>
              </a:defRPr>
            </a:pPr>
            <a:r>
              <a:t>[核心驱动力] 为什么大家都疯了？账算得太明白了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F0FF"/>
                </a:solidFill>
                <a:latin typeface="Microsoft YaHei"/>
              </a:defRPr>
            </a:pPr>
            <a:r>
              <a:t>核心观点 | 成本砍掉90%，资本和制作团队必然全面倒向AI。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F0F0F0"/>
                </a:solidFill>
                <a:latin typeface="Microsoft YaHei"/>
              </a:defRPr>
            </a:pPr>
            <a:r>
              <a:t>• 传统模式：场地+群演+灯光 = 50-100万成本，周期半个月。</a:t>
            </a:r>
          </a:p>
          <a:p>
            <a:pPr>
              <a:spcAft>
                <a:spcPts val="2000"/>
              </a:spcAft>
              <a:defRPr sz="2400">
                <a:solidFill>
                  <a:srgbClr val="F0F0F0"/>
                </a:solidFill>
                <a:latin typeface="Microsoft YaHei"/>
              </a:defRPr>
            </a:pPr>
            <a:r>
              <a:t>• AI模式：3-5人+电脑+键盘 = 3-5万成本，周期1个星期。</a:t>
            </a:r>
          </a:p>
          <a:p>
            <a:pPr>
              <a:spcAft>
                <a:spcPts val="2000"/>
              </a:spcAft>
              <a:defRPr sz="2400" b="1">
                <a:solidFill>
                  <a:srgbClr val="FF003C"/>
                </a:solidFill>
                <a:latin typeface="Microsoft YaHei"/>
              </a:defRPr>
            </a:pPr>
            <a:r>
              <a:t>• 结论：资本是逐利的，十倍的利润差是市场剧变的唯一动力。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0" y="457200"/>
            <a:ext cx="91440" cy="1371600"/>
          </a:xfrm>
          <a:prstGeom prst="rect">
            <a:avLst/>
          </a:prstGeom>
          <a:solidFill>
            <a:srgbClr val="FF0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0F0F0"/>
                </a:solidFill>
                <a:latin typeface="Microsoft YaHei"/>
              </a:defRPr>
            </a:pPr>
            <a:r>
              <a:t>[用户痛点] 工作室每天都在骂什么？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F0FF"/>
                </a:solidFill>
                <a:latin typeface="Microsoft YaHei"/>
              </a:defRPr>
            </a:pPr>
            <a:r>
              <a:t>核心观点 | 虽然用了AI，但现在的工具根本没法干“重体力活”。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F0F0F0"/>
                </a:solidFill>
                <a:latin typeface="Microsoft YaHei"/>
              </a:defRPr>
            </a:pPr>
            <a:r>
              <a:t>• 痛点一：“换头怪”灾难。角色脸部无法固定，观众极易出戏。</a:t>
            </a:r>
          </a:p>
          <a:p>
            <a:pPr>
              <a:spcAft>
                <a:spcPts val="2000"/>
              </a:spcAft>
              <a:defRPr sz="2400">
                <a:solidFill>
                  <a:srgbClr val="F0F0F0"/>
                </a:solidFill>
                <a:latin typeface="Microsoft YaHei"/>
              </a:defRPr>
            </a:pPr>
            <a:r>
              <a:t>• 痛点二：“缝衣式”工作流。写剧本(GPT) -&gt; 跑图(MJ) -&gt; 生成视频(可灵) -&gt; 剪辑(剪映)。</a:t>
            </a:r>
          </a:p>
          <a:p>
            <a:pPr>
              <a:spcAft>
                <a:spcPts val="2000"/>
              </a:spcAft>
              <a:defRPr sz="2400" b="1">
                <a:solidFill>
                  <a:srgbClr val="FF003C"/>
                </a:solidFill>
                <a:latin typeface="Microsoft YaHei"/>
              </a:defRPr>
            </a:pPr>
            <a:r>
              <a:t>• 现状总结：几千个镜头，切几十个文件夹，大半夜能把人逼疯。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0" y="457200"/>
            <a:ext cx="91440" cy="1371600"/>
          </a:xfrm>
          <a:prstGeom prst="rect">
            <a:avLst/>
          </a:prstGeom>
          <a:solidFill>
            <a:srgbClr val="FF0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0F0F0"/>
                </a:solidFill>
                <a:latin typeface="Microsoft YaHei"/>
              </a:defRPr>
            </a:pPr>
            <a:r>
              <a:t>[竞品分析] 扒一扒对手：大厂们在干嘛？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F0FF"/>
                </a:solidFill>
                <a:latin typeface="Microsoft YaHei"/>
              </a:defRPr>
            </a:pPr>
            <a:r>
              <a:t>核心观点 | 大厂都在拼底层大模型（造发动机），没空做体验（造车壳）。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F0F0F0"/>
                </a:solidFill>
                <a:latin typeface="Microsoft YaHei"/>
              </a:defRPr>
            </a:pPr>
            <a:r>
              <a:t>• 字节（小云雀/即梦）：Seedance 2.0 模型，懂导演思维，镜头连贯。</a:t>
            </a:r>
          </a:p>
          <a:p>
            <a:pPr>
              <a:spcAft>
                <a:spcPts val="2000"/>
              </a:spcAft>
              <a:defRPr sz="2400">
                <a:solidFill>
                  <a:srgbClr val="F0F0F0"/>
                </a:solidFill>
                <a:latin typeface="Microsoft YaHei"/>
              </a:defRPr>
            </a:pPr>
            <a:r>
              <a:t>• 快手（可灵）：Kling 3.0，物理引擎牛，质感像电影大片。</a:t>
            </a:r>
          </a:p>
          <a:p>
            <a:pPr>
              <a:spcAft>
                <a:spcPts val="2000"/>
              </a:spcAft>
              <a:defRPr sz="2400">
                <a:solidFill>
                  <a:srgbClr val="F0F0F0"/>
                </a:solidFill>
                <a:latin typeface="Microsoft YaHei"/>
              </a:defRPr>
            </a:pPr>
            <a:r>
              <a:t>• 阿里（快乐小马）：便宜又快，自带翻译，主打出海管饱。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0" y="457200"/>
            <a:ext cx="91440" cy="1371600"/>
          </a:xfrm>
          <a:prstGeom prst="rect">
            <a:avLst/>
          </a:prstGeom>
          <a:solidFill>
            <a:srgbClr val="FF0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0F0F0"/>
                </a:solidFill>
                <a:latin typeface="Microsoft YaHei"/>
              </a:defRPr>
            </a:pPr>
            <a:r>
              <a:t>[战略洞察] 为什么大厂不做“手机端短剧APP”？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F0FF"/>
                </a:solidFill>
                <a:latin typeface="Microsoft YaHei"/>
              </a:defRPr>
            </a:pPr>
            <a:r>
              <a:t>核心观点 | 大厂绝不内部打架，工具端不能和流量端抢饭碗。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F0F0F0"/>
                </a:solidFill>
                <a:latin typeface="Microsoft YaHei"/>
              </a:defRPr>
            </a:pPr>
            <a:r>
              <a:t>• 定位不同：AI工具是“炒菜的锅”，抖音快手是“大饭店”。</a:t>
            </a:r>
          </a:p>
          <a:p>
            <a:pPr>
              <a:spcAft>
                <a:spcPts val="2000"/>
              </a:spcAft>
              <a:defRPr sz="2400">
                <a:solidFill>
                  <a:srgbClr val="F0F0F0"/>
                </a:solidFill>
                <a:latin typeface="Microsoft YaHei"/>
              </a:defRPr>
            </a:pPr>
            <a:r>
              <a:t>• 流量闭环：大厂巴不得大家用他们的工具生成视频，再发回他们主站变现。</a:t>
            </a:r>
          </a:p>
          <a:p>
            <a:pPr>
              <a:spcAft>
                <a:spcPts val="2000"/>
              </a:spcAft>
              <a:defRPr sz="2400">
                <a:solidFill>
                  <a:srgbClr val="F0F0F0"/>
                </a:solidFill>
                <a:latin typeface="Microsoft YaHei"/>
              </a:defRPr>
            </a:pPr>
            <a:r>
              <a:t>• 物理限制：手机屏幕太小，搓几十集、几百个转场的长剧，完全不现实。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0" y="457200"/>
            <a:ext cx="91440" cy="1371600"/>
          </a:xfrm>
          <a:prstGeom prst="rect">
            <a:avLst/>
          </a:prstGeom>
          <a:solidFill>
            <a:srgbClr val="FF0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0F0F0"/>
                </a:solidFill>
                <a:latin typeface="Microsoft YaHei"/>
              </a:defRPr>
            </a:pPr>
            <a:r>
              <a:t>[我们的定位] 避开大厂锋芒，做“包工头”最爱的软件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F0FF"/>
                </a:solidFill>
                <a:latin typeface="Microsoft YaHei"/>
              </a:defRPr>
            </a:pPr>
            <a:r>
              <a:t>核心观点 | 我们不造发动机，我们造最好的全自动流水线机床！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F0F0F0"/>
                </a:solidFill>
                <a:latin typeface="Microsoft YaHei"/>
              </a:defRPr>
            </a:pPr>
            <a:r>
              <a:t>• 绝对不碰：烧钱的底层大模型、C端短剧流量分发。</a:t>
            </a:r>
          </a:p>
          <a:p>
            <a:pPr>
              <a:spcAft>
                <a:spcPts val="2000"/>
              </a:spcAft>
              <a:defRPr sz="2400" b="1">
                <a:solidFill>
                  <a:srgbClr val="FF003C"/>
                </a:solidFill>
                <a:latin typeface="Microsoft YaHei"/>
              </a:defRPr>
            </a:pPr>
            <a:r>
              <a:t>• 死死咬住：B端工作室的“生产效率”和“工程化管理”。</a:t>
            </a:r>
          </a:p>
          <a:p>
            <a:pPr>
              <a:spcAft>
                <a:spcPts val="2000"/>
              </a:spcAft>
              <a:defRPr sz="2400">
                <a:solidFill>
                  <a:srgbClr val="F0F0F0"/>
                </a:solidFill>
                <a:latin typeface="Microsoft YaHei"/>
              </a:defRPr>
            </a:pPr>
            <a:r>
              <a:t>• 目标用户：急着赚钱、手里攥着剧本、被零碎软件折磨的短剧包工头。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0" y="457200"/>
            <a:ext cx="91440" cy="1371600"/>
          </a:xfrm>
          <a:prstGeom prst="rect">
            <a:avLst/>
          </a:prstGeom>
          <a:solidFill>
            <a:srgbClr val="FF0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0F0F0"/>
                </a:solidFill>
                <a:latin typeface="Microsoft YaHei"/>
              </a:defRPr>
            </a:pPr>
            <a:r>
              <a:t>[杀手锏 1] 剧本一键拆解，把“作坊”变成“正规军”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F0FF"/>
                </a:solidFill>
                <a:latin typeface="Microsoft YaHei"/>
              </a:defRPr>
            </a:pPr>
            <a:r>
              <a:t>核心观点 | 消灭乱七八糟的文件夹，建立正规的工程化目录树。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F0F0F0"/>
                </a:solidFill>
                <a:latin typeface="Microsoft YaHei"/>
              </a:defRPr>
            </a:pPr>
            <a:r>
              <a:t>• 一键导入：十几万字剧本拖入，后台大模型瞬间解析。</a:t>
            </a:r>
          </a:p>
          <a:p>
            <a:pPr>
              <a:spcAft>
                <a:spcPts val="2000"/>
              </a:spcAft>
              <a:defRPr sz="2400">
                <a:solidFill>
                  <a:srgbClr val="F0F0F0"/>
                </a:solidFill>
                <a:latin typeface="Microsoft YaHei"/>
              </a:defRPr>
            </a:pPr>
            <a:r>
              <a:t>• 结构化拆解：自动生成 [集数 -&gt; 场次 -&gt; 镜头分镜 -&gt; 角色台词]。</a:t>
            </a:r>
          </a:p>
          <a:p>
            <a:pPr>
              <a:spcAft>
                <a:spcPts val="2000"/>
              </a:spcAft>
              <a:defRPr sz="2400">
                <a:solidFill>
                  <a:srgbClr val="F0F0F0"/>
                </a:solidFill>
                <a:latin typeface="Microsoft YaHei"/>
              </a:defRPr>
            </a:pPr>
            <a:r>
              <a:t>• 左树右图：左侧点选镜头，右侧直接出画面生成面板。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0" y="457200"/>
            <a:ext cx="91440" cy="1371600"/>
          </a:xfrm>
          <a:prstGeom prst="rect">
            <a:avLst/>
          </a:prstGeom>
          <a:solidFill>
            <a:srgbClr val="FF0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0F0F0"/>
                </a:solidFill>
                <a:latin typeface="Microsoft YaHei"/>
              </a:defRPr>
            </a:pPr>
            <a:r>
              <a:t>[杀手锏 2] “锁死”那张脸，打造短剧界“横店资产库”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F0FF"/>
                </a:solidFill>
                <a:latin typeface="Microsoft YaHei"/>
              </a:defRPr>
            </a:pPr>
            <a:r>
              <a:t>核心观点 | 彻底解决“换头怪”痛点，让数字演员随叫随到。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F0F0F0"/>
                </a:solidFill>
                <a:latin typeface="Microsoft YaHei"/>
              </a:defRPr>
            </a:pPr>
            <a:r>
              <a:t>• 开拍前捏脸：建立专属“数字演员休息室”。</a:t>
            </a:r>
          </a:p>
          <a:p>
            <a:pPr>
              <a:spcAft>
                <a:spcPts val="2000"/>
              </a:spcAft>
              <a:defRPr sz="2400">
                <a:solidFill>
                  <a:srgbClr val="F0F0F0"/>
                </a:solidFill>
                <a:latin typeface="Microsoft YaHei"/>
              </a:defRPr>
            </a:pPr>
            <a:r>
              <a:t>• 资产固化：死死锁住人脸特征、服装风格、AI配音音色。</a:t>
            </a:r>
          </a:p>
          <a:p>
            <a:pPr>
              <a:spcAft>
                <a:spcPts val="2000"/>
              </a:spcAft>
              <a:defRPr sz="2400">
                <a:solidFill>
                  <a:srgbClr val="F0F0F0"/>
                </a:solidFill>
                <a:latin typeface="Microsoft YaHei"/>
              </a:defRPr>
            </a:pPr>
            <a:r>
              <a:t>• 跨集调用：第一集到第三十集，一键“调用男主A”，角度随便换，脸绝对不崩。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0" y="457200"/>
            <a:ext cx="91440" cy="1371600"/>
          </a:xfrm>
          <a:prstGeom prst="rect">
            <a:avLst/>
          </a:prstGeom>
          <a:solidFill>
            <a:srgbClr val="FF0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0F0F0"/>
                </a:solidFill>
                <a:latin typeface="Microsoft YaHei"/>
              </a:defRPr>
            </a:pPr>
            <a:r>
              <a:t>[杀手锏 3] “海纳百川”的智能调度器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F0FF"/>
                </a:solidFill>
                <a:latin typeface="Microsoft YaHei"/>
              </a:defRPr>
            </a:pPr>
            <a:r>
              <a:t>核心观点 | 聚合各家API，用户只需提需求，我们负责跑腿。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F0F0F0"/>
                </a:solidFill>
                <a:latin typeface="Microsoft YaHei"/>
              </a:defRPr>
            </a:pPr>
            <a:r>
              <a:t>• 痛点：买三家会员，开三个网页。</a:t>
            </a:r>
          </a:p>
          <a:p>
            <a:pPr>
              <a:spcAft>
                <a:spcPts val="2000"/>
              </a:spcAft>
              <a:defRPr sz="2400">
                <a:solidFill>
                  <a:srgbClr val="F0F0F0"/>
                </a:solidFill>
                <a:latin typeface="Microsoft YaHei"/>
              </a:defRPr>
            </a:pPr>
            <a:r>
              <a:t>• 解法：全面接入大厂开放API。要网感调字节，要特效调可灵，要便宜调阿里。</a:t>
            </a:r>
          </a:p>
          <a:p>
            <a:pPr>
              <a:spcAft>
                <a:spcPts val="2000"/>
              </a:spcAft>
              <a:defRPr sz="2400" b="1">
                <a:solidFill>
                  <a:srgbClr val="FF003C"/>
                </a:solidFill>
                <a:latin typeface="Microsoft YaHei"/>
              </a:defRPr>
            </a:pPr>
            <a:r>
              <a:t>• 本质：做一个“AI接口二道贩子”，用极致体验赚工作流的钱。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0" y="457200"/>
            <a:ext cx="91440" cy="1371600"/>
          </a:xfrm>
          <a:prstGeom prst="rect">
            <a:avLst/>
          </a:prstGeom>
          <a:solidFill>
            <a:srgbClr val="FF0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0F0F0"/>
                </a:solidFill>
                <a:latin typeface="Microsoft YaHei"/>
              </a:defRPr>
            </a:pPr>
            <a:r>
              <a:t>[商业模式] 怎么赚钱？（搞钱才是硬道理）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F0FF"/>
                </a:solidFill>
                <a:latin typeface="Microsoft YaHei"/>
              </a:defRPr>
            </a:pPr>
            <a:r>
              <a:t>核心观点 | 细水长流收月租，赚差价收云租金，出海风口卖增值。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F0F0F0"/>
                </a:solidFill>
                <a:latin typeface="Microsoft YaHei"/>
              </a:defRPr>
            </a:pPr>
            <a:r>
              <a:t>• SaaS高级会员：卖剧本拆解、资产锁、无限轨剪辑等核心功能。</a:t>
            </a:r>
          </a:p>
          <a:p>
            <a:pPr>
              <a:spcAft>
                <a:spcPts val="2000"/>
              </a:spcAft>
              <a:defRPr sz="2400">
                <a:solidFill>
                  <a:srgbClr val="F0F0F0"/>
                </a:solidFill>
                <a:latin typeface="Microsoft YaHei"/>
              </a:defRPr>
            </a:pPr>
            <a:r>
              <a:t>• 算力差价与云存储：拿大厂批发价赚差价；收工程文件的云端保存费。</a:t>
            </a:r>
          </a:p>
          <a:p>
            <a:pPr>
              <a:spcAft>
                <a:spcPts val="2000"/>
              </a:spcAft>
              <a:defRPr sz="2400">
                <a:solidFill>
                  <a:srgbClr val="F0F0F0"/>
                </a:solidFill>
                <a:latin typeface="Microsoft YaHei"/>
              </a:defRPr>
            </a:pPr>
            <a:r>
              <a:t>• “一键出海”增值包：按次收费，提供“一键翻译+口型同步”。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0" y="457200"/>
            <a:ext cx="91440" cy="1371600"/>
          </a:xfrm>
          <a:prstGeom prst="rect">
            <a:avLst/>
          </a:prstGeom>
          <a:solidFill>
            <a:srgbClr val="FF0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0F0F0"/>
                </a:solidFill>
                <a:latin typeface="Microsoft YaHei"/>
              </a:defRPr>
            </a:pPr>
            <a:r>
              <a:t>[下一步行动] 我们的 Action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F0FF"/>
                </a:solidFill>
                <a:latin typeface="Microsoft YaHei"/>
              </a:defRPr>
            </a:pPr>
            <a:r>
              <a:t>核心观点 | 小步快跑，快速验证，死磕前端体验。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F0F0F0"/>
                </a:solidFill>
                <a:latin typeface="Microsoft YaHei"/>
              </a:defRPr>
            </a:pPr>
            <a:r>
              <a:t>• 启动MVP开发：先做“剧本拆解成目录树” + “简单接入一个视频接口”。</a:t>
            </a:r>
          </a:p>
          <a:p>
            <a:pPr>
              <a:spcAft>
                <a:spcPts val="2000"/>
              </a:spcAft>
              <a:defRPr sz="2400">
                <a:solidFill>
                  <a:srgbClr val="F0F0F0"/>
                </a:solidFill>
                <a:latin typeface="Microsoft YaHei"/>
              </a:defRPr>
            </a:pPr>
            <a:r>
              <a:t>• 引入种子用户：找2-3家痛苦的短剧小团队入伙免费测，照着痛点改。</a:t>
            </a:r>
          </a:p>
          <a:p>
            <a:pPr>
              <a:spcAft>
                <a:spcPts val="2000"/>
              </a:spcAft>
              <a:defRPr sz="2400" b="1">
                <a:solidFill>
                  <a:srgbClr val="FF003C"/>
                </a:solidFill>
                <a:latin typeface="Microsoft YaHei"/>
              </a:defRPr>
            </a:pPr>
            <a:r>
              <a:t>• 前端资源倾斜：HomeView.vue等交互必须像专业软件一样丝滑，拒绝网页卡顿感。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0" y="457200"/>
            <a:ext cx="91440" cy="1371600"/>
          </a:xfrm>
          <a:prstGeom prst="rect">
            <a:avLst/>
          </a:prstGeom>
          <a:solidFill>
            <a:srgbClr val="FF0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0F0F0"/>
                </a:solidFill>
                <a:latin typeface="Microsoft YaHei"/>
              </a:defRPr>
            </a:pPr>
            <a:r>
              <a:t>[总结愿景] 卖铲子的人，永远最赚钱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F0FF"/>
                </a:solidFill>
                <a:latin typeface="Microsoft YaHei"/>
              </a:defRPr>
            </a:pPr>
            <a:r>
              <a:t>核心观点 | 在AI短剧的淘金热中，我们就是那把最好用的冲锋枪。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F0F0F0"/>
                </a:solidFill>
                <a:latin typeface="Microsoft YaHei"/>
              </a:defRPr>
            </a:pPr>
            <a:r>
              <a:t>• 旧规矩全被打破，影视工业面临重构。</a:t>
            </a:r>
          </a:p>
          <a:p>
            <a:pPr>
              <a:spcAft>
                <a:spcPts val="2000"/>
              </a:spcAft>
              <a:defRPr sz="2400">
                <a:solidFill>
                  <a:srgbClr val="F0F0F0"/>
                </a:solidFill>
                <a:latin typeface="Microsoft YaHei"/>
              </a:defRPr>
            </a:pPr>
            <a:r>
              <a:t>• 降维打击市面上的“网页玩具”。</a:t>
            </a:r>
          </a:p>
          <a:p>
            <a:pPr>
              <a:spcAft>
                <a:spcPts val="2000"/>
              </a:spcAft>
              <a:defRPr sz="2400">
                <a:solidFill>
                  <a:srgbClr val="F0F0F0"/>
                </a:solidFill>
                <a:latin typeface="Microsoft YaHei"/>
              </a:defRPr>
            </a:pPr>
            <a:r>
              <a:t>• 只要咱们这把“冲锋枪”造得好，必定能在这个风口赚得盆满钵满！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0" y="457200"/>
            <a:ext cx="91440" cy="1371600"/>
          </a:xfrm>
          <a:prstGeom prst="rect">
            <a:avLst/>
          </a:prstGeom>
          <a:solidFill>
            <a:srgbClr val="FF0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00F0FF"/>
                </a:solidFill>
                <a:latin typeface="Microsoft YaHei"/>
              </a:defRPr>
            </a:pPr>
            <a: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感谢聆听，请领导批评指正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