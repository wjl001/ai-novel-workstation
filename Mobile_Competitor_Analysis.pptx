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400" b="1">
                <a:latin typeface="微软雅黑"/>
              </a:defRPr>
            </a:pPr>
            <a:r>
              <a:t>国内AI短剧平台移动端竞品调研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400" b="0">
                <a:latin typeface="微软雅黑"/>
              </a:defRPr>
            </a:pPr>
            <a:r>
              <a:t>小云雀、即梦、可灵、纳米、天工、万兴 竞品分析与差异化策略</a:t>
            </a:r>
          </a:p>
          <a:p/>
          <a:p>
            <a:r>
              <a:t>汇报人：产品团队</a:t>
            </a:r>
          </a:p>
          <a:p>
            <a:r>
              <a:t>日期：2026年5月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latin typeface="微软雅黑"/>
              </a:defRPr>
            </a:pPr>
            <a:r>
              <a:t>市场综述：AIGC短剧的移动端现状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000"/>
              </a:spcAft>
              <a:defRPr sz="1800" b="0">
                <a:latin typeface="微软雅黑"/>
              </a:defRPr>
            </a:pPr>
            <a:r>
              <a:t>核心发现：目前主流平台本质是AIGC生产端工具（锄头），而非短剧消费平台（粮仓）。</a:t>
            </a:r>
          </a:p>
          <a:p>
            <a:pPr>
              <a:spcAft>
                <a:spcPts val="1000"/>
              </a:spcAft>
              <a:defRPr sz="1800" b="0">
                <a:latin typeface="微软雅黑"/>
              </a:defRPr>
            </a:pPr>
            <a:r>
              <a:t>PC端定位：复杂的长文本解析、多角色一致性、分镜管理和长线时间轴等“重度工作流”均依赖PC大屏。</a:t>
            </a:r>
          </a:p>
          <a:p>
            <a:pPr>
              <a:spcAft>
                <a:spcPts val="1000"/>
              </a:spcAft>
              <a:defRPr sz="1800" b="0">
                <a:latin typeface="微软雅黑"/>
              </a:defRPr>
            </a:pPr>
            <a:r>
              <a:t>移动端定位：工具App的复杂操作会与移动端天然的“短平快”创作流冲突。</a:t>
            </a:r>
          </a:p>
          <a:p>
            <a:pPr>
              <a:spcAft>
                <a:spcPts val="1000"/>
              </a:spcAft>
              <a:defRPr sz="1800" b="0">
                <a:latin typeface="微软雅黑"/>
              </a:defRPr>
            </a:pPr>
            <a:r>
              <a:t>生态流向：生成的内容天然流向抖音、快手等自家短视频平台变现，而非在生成工具内消费。</a:t>
            </a:r>
          </a:p>
          <a:p>
            <a:pPr>
              <a:spcBef>
                <a:spcPts val="1400"/>
              </a:spcBef>
              <a:defRPr sz="1800" b="1">
                <a:solidFill>
                  <a:srgbClr val="FF0000"/>
                </a:solidFill>
                <a:latin typeface="微软雅黑"/>
              </a:defRPr>
            </a:pPr>
            <a:r>
              <a:t>【总结结论】多数平台未在移动端布局深度短剧创作，这为我们留下了“移动端轻量级创作+消费闭环”的差异化突围空间。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0" y="1828800"/>
            <a:ext cx="2286000" cy="4114800"/>
          </a:xfrm>
          <a:prstGeom prst="rect">
            <a:avLst/>
          </a:prstGeom>
          <a:solidFill>
            <a:srgbClr val="E6E6E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0">
                <a:solidFill>
                  <a:srgbClr val="646464"/>
                </a:solidFill>
                <a:latin typeface="微软雅黑"/>
              </a:defRPr>
            </a:pPr>
            <a:r>
              <a:t>移动端/产品截图占位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latin typeface="微软雅黑"/>
              </a:defRPr>
            </a:pPr>
            <a:r>
              <a:t>竞品一：小云雀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000"/>
              </a:spcAft>
              <a:defRPr sz="1800" b="0">
                <a:latin typeface="微软雅黑"/>
              </a:defRPr>
            </a:pPr>
            <a:r>
              <a:t>PC端功能：公司已上线的短剧PC端平台，主打AIGC短剧完整生产流程。</a:t>
            </a:r>
          </a:p>
          <a:p>
            <a:pPr>
              <a:spcAft>
                <a:spcPts val="1000"/>
              </a:spcAft>
              <a:defRPr sz="1800" b="0">
                <a:latin typeface="微软雅黑"/>
              </a:defRPr>
            </a:pPr>
            <a:r>
              <a:t>移动端有无：目前无专门针对短剧的移动端App。</a:t>
            </a:r>
          </a:p>
          <a:p>
            <a:pPr>
              <a:spcAft>
                <a:spcPts val="1000"/>
              </a:spcAft>
              <a:defRPr sz="1800" b="0">
                <a:latin typeface="微软雅黑"/>
              </a:defRPr>
            </a:pPr>
            <a:r>
              <a:t>移动端功能：缺乏对应功能。</a:t>
            </a:r>
          </a:p>
          <a:p>
            <a:pPr>
              <a:spcAft>
                <a:spcPts val="1000"/>
              </a:spcAft>
              <a:defRPr sz="1800" b="0">
                <a:latin typeface="微软雅黑"/>
              </a:defRPr>
            </a:pPr>
            <a:r>
              <a:t>PC与移动端关系：重度依赖PC，无移动端生态引流。</a:t>
            </a:r>
          </a:p>
          <a:p>
            <a:pPr>
              <a:spcBef>
                <a:spcPts val="1400"/>
              </a:spcBef>
              <a:defRPr sz="1800" b="1">
                <a:solidFill>
                  <a:srgbClr val="FF0000"/>
                </a:solidFill>
                <a:latin typeface="微软雅黑"/>
              </a:defRPr>
            </a:pPr>
            <a:r>
              <a:t>【总结结论】小云雀目前纯聚焦PC端生产，缺乏移动端的内容触达与轻量化互动，无法形成PC与移动的双端流量闭环。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0" y="1828800"/>
            <a:ext cx="2286000" cy="4114800"/>
          </a:xfrm>
          <a:prstGeom prst="rect">
            <a:avLst/>
          </a:prstGeom>
          <a:solidFill>
            <a:srgbClr val="E6E6E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0">
                <a:solidFill>
                  <a:srgbClr val="646464"/>
                </a:solidFill>
                <a:latin typeface="微软雅黑"/>
              </a:defRPr>
            </a:pPr>
            <a:r>
              <a:t>移动端/产品截图占位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latin typeface="微软雅黑"/>
              </a:defRPr>
            </a:pPr>
            <a:r>
              <a:t>竞品二：即梦AI (字节跳动)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000"/>
              </a:spcAft>
              <a:defRPr sz="1800" b="0">
                <a:latin typeface="微软雅黑"/>
              </a:defRPr>
            </a:pPr>
            <a:r>
              <a:t>PC端功能：一站式AI创作平台（智能画布、故事创作、运镜控制）。</a:t>
            </a:r>
          </a:p>
          <a:p>
            <a:pPr>
              <a:spcAft>
                <a:spcPts val="1000"/>
              </a:spcAft>
              <a:defRPr sz="1800" b="0">
                <a:latin typeface="微软雅黑"/>
              </a:defRPr>
            </a:pPr>
            <a:r>
              <a:t>移动端有无：有移动端App（即梦AI）。</a:t>
            </a:r>
          </a:p>
          <a:p>
            <a:pPr>
              <a:spcAft>
                <a:spcPts val="1000"/>
              </a:spcAft>
              <a:defRPr sz="1800" b="0">
                <a:latin typeface="微软雅黑"/>
              </a:defRPr>
            </a:pPr>
            <a:r>
              <a:t>短剧专属功能：无完整的短剧时间线功能。</a:t>
            </a:r>
          </a:p>
          <a:p>
            <a:pPr>
              <a:spcAft>
                <a:spcPts val="1000"/>
              </a:spcAft>
              <a:defRPr sz="1800" b="0">
                <a:latin typeface="微软雅黑"/>
              </a:defRPr>
            </a:pPr>
            <a:r>
              <a:t>移动端功能：支持文生图、图生图、文/图生视频（单次生成视频片段），AI分身、社区作品“做同款”。</a:t>
            </a:r>
          </a:p>
          <a:p>
            <a:pPr>
              <a:spcAft>
                <a:spcPts val="1000"/>
              </a:spcAft>
              <a:defRPr sz="1800" b="0">
                <a:latin typeface="微软雅黑"/>
              </a:defRPr>
            </a:pPr>
            <a:r>
              <a:t>PC与移动端关系：数据互通。移动端用于轻量级灵感生成与社区分享，PC端负责复杂的智能画布拼图与短剧分镜。导流至抖音体系获取流量扶持。</a:t>
            </a:r>
          </a:p>
          <a:p>
            <a:pPr>
              <a:spcBef>
                <a:spcPts val="1400"/>
              </a:spcBef>
              <a:defRPr sz="1800" b="1">
                <a:solidFill>
                  <a:srgbClr val="FF0000"/>
                </a:solidFill>
                <a:latin typeface="微软雅黑"/>
              </a:defRPr>
            </a:pPr>
            <a:r>
              <a:t>【总结结论】即梦移动端重在“单镜头生成与社区灵感”，并未将“短剧生产全流”搬上手机，其闭环依赖字节抖音生态。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0" y="1828800"/>
            <a:ext cx="2286000" cy="4114800"/>
          </a:xfrm>
          <a:prstGeom prst="rect">
            <a:avLst/>
          </a:prstGeom>
          <a:solidFill>
            <a:srgbClr val="E6E6E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0">
                <a:solidFill>
                  <a:srgbClr val="646464"/>
                </a:solidFill>
                <a:latin typeface="微软雅黑"/>
              </a:defRPr>
            </a:pPr>
            <a:r>
              <a:t>移动端/产品截图占位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latin typeface="微软雅黑"/>
              </a:defRPr>
            </a:pPr>
            <a:r>
              <a:t>竞品三：可灵AI (快手)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000"/>
              </a:spcAft>
              <a:defRPr sz="1800" b="0">
                <a:latin typeface="微软雅黑"/>
              </a:defRPr>
            </a:pPr>
            <a:r>
              <a:t>PC端功能：视频生成大模型，支持多主体参考、智能分镜等影视级工业流。</a:t>
            </a:r>
          </a:p>
          <a:p>
            <a:pPr>
              <a:spcAft>
                <a:spcPts val="1000"/>
              </a:spcAft>
              <a:defRPr sz="1800" b="0">
                <a:latin typeface="微软雅黑"/>
              </a:defRPr>
            </a:pPr>
            <a:r>
              <a:t>移动端有无：有移动端App（可灵AI）。</a:t>
            </a:r>
          </a:p>
          <a:p>
            <a:pPr>
              <a:spcAft>
                <a:spcPts val="1000"/>
              </a:spcAft>
              <a:defRPr sz="1800" b="0">
                <a:latin typeface="微软雅黑"/>
              </a:defRPr>
            </a:pPr>
            <a:r>
              <a:t>短剧专属功能：缺乏长线短剧剧本解析与剪辑台。</a:t>
            </a:r>
          </a:p>
          <a:p>
            <a:pPr>
              <a:spcAft>
                <a:spcPts val="1000"/>
              </a:spcAft>
              <a:defRPr sz="1800" b="0">
                <a:latin typeface="微软雅黑"/>
              </a:defRPr>
            </a:pPr>
            <a:r>
              <a:t>移动端功能：文生/图生视频、最长3分钟视频续写、运镜控制、一键同款。适合生成单片段的口型同步素材。</a:t>
            </a:r>
          </a:p>
          <a:p>
            <a:pPr>
              <a:spcAft>
                <a:spcPts val="1000"/>
              </a:spcAft>
              <a:defRPr sz="1800" b="0">
                <a:latin typeface="微软雅黑"/>
              </a:defRPr>
            </a:pPr>
            <a:r>
              <a:t>PC与移动端关系：账号互通。移动端主打碎片化生成和素材收集，成品直接流向快手短视频生态进行变现。</a:t>
            </a:r>
          </a:p>
          <a:p>
            <a:pPr>
              <a:spcBef>
                <a:spcPts val="1400"/>
              </a:spcBef>
              <a:defRPr sz="1800" b="1">
                <a:solidFill>
                  <a:srgbClr val="FF0000"/>
                </a:solidFill>
                <a:latin typeface="微软雅黑"/>
              </a:defRPr>
            </a:pPr>
            <a:r>
              <a:t>【总结结论】可灵AI移动端依然是“素材生产工具”，视频续写功能强大，但无法在移动端完成多集短剧的统筹与消费。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0" y="1828800"/>
            <a:ext cx="2286000" cy="4114800"/>
          </a:xfrm>
          <a:prstGeom prst="rect">
            <a:avLst/>
          </a:prstGeom>
          <a:solidFill>
            <a:srgbClr val="E6E6E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0">
                <a:solidFill>
                  <a:srgbClr val="646464"/>
                </a:solidFill>
                <a:latin typeface="微软雅黑"/>
              </a:defRPr>
            </a:pPr>
            <a:r>
              <a:t>移动端/产品截图占位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latin typeface="微软雅黑"/>
              </a:defRPr>
            </a:pPr>
            <a:r>
              <a:t>竞品四：纳米 (360)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000"/>
              </a:spcAft>
              <a:defRPr sz="1800" b="0">
                <a:latin typeface="微软雅黑"/>
              </a:defRPr>
            </a:pPr>
            <a:r>
              <a:t>PC端功能：纳米漫剧流水线（工业级AI漫剧生产平台，三维场景+时间线引擎）。</a:t>
            </a:r>
          </a:p>
          <a:p>
            <a:pPr>
              <a:spcAft>
                <a:spcPts val="1000"/>
              </a:spcAft>
              <a:defRPr sz="1800" b="0">
                <a:latin typeface="微软雅黑"/>
              </a:defRPr>
            </a:pPr>
            <a:r>
              <a:t>移动端有无：有移动端App（纳米AI、纳米P视频）。</a:t>
            </a:r>
          </a:p>
          <a:p>
            <a:pPr>
              <a:spcAft>
                <a:spcPts val="1000"/>
              </a:spcAft>
              <a:defRPr sz="1800" b="0">
                <a:latin typeface="微软雅黑"/>
              </a:defRPr>
            </a:pPr>
            <a:r>
              <a:t>短剧专属功能：移动端无工业级漫剧流水线入口。</a:t>
            </a:r>
          </a:p>
          <a:p>
            <a:pPr>
              <a:spcAft>
                <a:spcPts val="1000"/>
              </a:spcAft>
              <a:defRPr sz="1800" b="0">
                <a:latin typeface="微软雅黑"/>
              </a:defRPr>
            </a:pPr>
            <a:r>
              <a:t>移动端功能：纳米AI主打超级智能体与搜索；纳米P视频主打一句话生视频、多图保角色、首尾帧转场。</a:t>
            </a:r>
          </a:p>
          <a:p>
            <a:pPr>
              <a:spcAft>
                <a:spcPts val="1000"/>
              </a:spcAft>
              <a:defRPr sz="1800" b="0">
                <a:latin typeface="微软雅黑"/>
              </a:defRPr>
            </a:pPr>
            <a:r>
              <a:t>PC与移动端关系：PC端面向企业和专业承制方（B端），移动端面向C端提供P图、轻视频合成及AI搜索，双端定位割裂。</a:t>
            </a:r>
          </a:p>
          <a:p>
            <a:pPr>
              <a:spcBef>
                <a:spcPts val="1400"/>
              </a:spcBef>
              <a:defRPr sz="1800" b="1">
                <a:solidFill>
                  <a:srgbClr val="FF0000"/>
                </a:solidFill>
                <a:latin typeface="微软雅黑"/>
              </a:defRPr>
            </a:pPr>
            <a:r>
              <a:t>【总结结论】纳米在PC端做重（企业流水线），在移动端做轻（搜索与短视频美化），并未将短剧专业创作下放移动端。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0" y="1828800"/>
            <a:ext cx="2286000" cy="4114800"/>
          </a:xfrm>
          <a:prstGeom prst="rect">
            <a:avLst/>
          </a:prstGeom>
          <a:solidFill>
            <a:srgbClr val="E6E6E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0">
                <a:solidFill>
                  <a:srgbClr val="646464"/>
                </a:solidFill>
                <a:latin typeface="微软雅黑"/>
              </a:defRPr>
            </a:pPr>
            <a:r>
              <a:t>移动端/产品截图占位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latin typeface="微软雅黑"/>
              </a:defRPr>
            </a:pPr>
            <a:r>
              <a:t>竞品五：天工 (昆仑万维)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000"/>
              </a:spcAft>
              <a:defRPr sz="1800" b="0">
                <a:latin typeface="微软雅黑"/>
              </a:defRPr>
            </a:pPr>
            <a:r>
              <a:t>PC端功能：天工短剧工作台（Agent驱动的自动化创作，一键生成分镜与成片）。</a:t>
            </a:r>
          </a:p>
          <a:p>
            <a:pPr>
              <a:spcAft>
                <a:spcPts val="1000"/>
              </a:spcAft>
              <a:defRPr sz="1800" b="0">
                <a:latin typeface="微软雅黑"/>
              </a:defRPr>
            </a:pPr>
            <a:r>
              <a:t>移动端有无：有移动端App（天工超级智能体/天工AI助手）。</a:t>
            </a:r>
          </a:p>
          <a:p>
            <a:pPr>
              <a:spcAft>
                <a:spcPts val="1000"/>
              </a:spcAft>
              <a:defRPr sz="1800" b="0">
                <a:latin typeface="微软雅黑"/>
              </a:defRPr>
            </a:pPr>
            <a:r>
              <a:t>短剧专属功能：无“短剧工作台”入口。</a:t>
            </a:r>
          </a:p>
          <a:p>
            <a:pPr>
              <a:spcAft>
                <a:spcPts val="1000"/>
              </a:spcAft>
              <a:defRPr sz="1800" b="0">
                <a:latin typeface="微软雅黑"/>
              </a:defRPr>
            </a:pPr>
            <a:r>
              <a:t>移动端功能：主打文档、PPT、表格生成，AI搜索与对话，长文本阅读，语音合成。</a:t>
            </a:r>
          </a:p>
          <a:p>
            <a:pPr>
              <a:spcAft>
                <a:spcPts val="1000"/>
              </a:spcAft>
              <a:defRPr sz="1800" b="0">
                <a:latin typeface="微软雅黑"/>
              </a:defRPr>
            </a:pPr>
            <a:r>
              <a:t>PC与移动端关系：移动端聚焦通用办公与助理场景，完全剥离了PC端特供的影视/短剧创作流。</a:t>
            </a:r>
          </a:p>
          <a:p>
            <a:pPr>
              <a:spcBef>
                <a:spcPts val="1400"/>
              </a:spcBef>
              <a:defRPr sz="1800" b="1">
                <a:solidFill>
                  <a:srgbClr val="FF0000"/>
                </a:solidFill>
                <a:latin typeface="微软雅黑"/>
              </a:defRPr>
            </a:pPr>
            <a:r>
              <a:t>【总结结论】天工的短剧核心竞争力全部留在PC端，移动端彻底让位于通用办公与对话AI，无短剧创作生态。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0" y="1828800"/>
            <a:ext cx="2286000" cy="4114800"/>
          </a:xfrm>
          <a:prstGeom prst="rect">
            <a:avLst/>
          </a:prstGeom>
          <a:solidFill>
            <a:srgbClr val="E6E6E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0">
                <a:solidFill>
                  <a:srgbClr val="646464"/>
                </a:solidFill>
                <a:latin typeface="微软雅黑"/>
              </a:defRPr>
            </a:pPr>
            <a:r>
              <a:t>移动端/产品截图占位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latin typeface="微软雅黑"/>
              </a:defRPr>
            </a:pPr>
            <a:r>
              <a:t>竞品六：万兴剧厂 (万兴科技)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000"/>
              </a:spcAft>
              <a:defRPr sz="1800" b="0">
                <a:latin typeface="微软雅黑"/>
              </a:defRPr>
            </a:pPr>
            <a:r>
              <a:t>PC端功能：万兴剧厂（全链路Agent创作支持，剧本-分镜-剪辑全闭环）。</a:t>
            </a:r>
          </a:p>
          <a:p>
            <a:pPr>
              <a:spcAft>
                <a:spcPts val="1000"/>
              </a:spcAft>
              <a:defRPr sz="1800" b="0">
                <a:latin typeface="微软雅黑"/>
              </a:defRPr>
            </a:pPr>
            <a:r>
              <a:t>移动端有无：万兴旗下有移动端App（万兴喵影），但“万兴剧厂”无独立移动端。</a:t>
            </a:r>
          </a:p>
          <a:p>
            <a:pPr>
              <a:spcAft>
                <a:spcPts val="1000"/>
              </a:spcAft>
              <a:defRPr sz="1800" b="0">
                <a:latin typeface="微软雅黑"/>
              </a:defRPr>
            </a:pPr>
            <a:r>
              <a:t>短剧专属功能：移动端无。</a:t>
            </a:r>
          </a:p>
          <a:p>
            <a:pPr>
              <a:spcAft>
                <a:spcPts val="1000"/>
              </a:spcAft>
              <a:defRPr sz="1800" b="0">
                <a:latin typeface="微软雅黑"/>
              </a:defRPr>
            </a:pPr>
            <a:r>
              <a:t>移动端功能：万兴喵影仅作为传统的视频剪辑工具，辅以基础AI包装特效。</a:t>
            </a:r>
          </a:p>
          <a:p>
            <a:pPr>
              <a:spcAft>
                <a:spcPts val="1000"/>
              </a:spcAft>
              <a:defRPr sz="1800" b="0">
                <a:latin typeface="微软雅黑"/>
              </a:defRPr>
            </a:pPr>
            <a:r>
              <a:t>PC与移动端关系：万兴剧厂主攻Web/PC端的高效出片，与移动端传统剪辑软件未形成深度的AI短剧协同生态。</a:t>
            </a:r>
          </a:p>
          <a:p>
            <a:pPr>
              <a:spcBef>
                <a:spcPts val="1400"/>
              </a:spcBef>
              <a:defRPr sz="1800" b="1">
                <a:solidFill>
                  <a:srgbClr val="FF0000"/>
                </a:solidFill>
                <a:latin typeface="微软雅黑"/>
              </a:defRPr>
            </a:pPr>
            <a:r>
              <a:t>【总结结论】万兴在短剧赛道主打PC端生产力工具赋能，移动端未跟进专用的短剧生成与消费平台。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0" y="1828800"/>
            <a:ext cx="2286000" cy="4114800"/>
          </a:xfrm>
          <a:prstGeom prst="rect">
            <a:avLst/>
          </a:prstGeom>
          <a:solidFill>
            <a:srgbClr val="E6E6E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0">
                <a:solidFill>
                  <a:srgbClr val="646464"/>
                </a:solidFill>
                <a:latin typeface="微软雅黑"/>
              </a:defRPr>
            </a:pPr>
            <a:r>
              <a:t>移动端/产品截图占位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latin typeface="微软雅黑"/>
              </a:defRPr>
            </a:pPr>
            <a:r>
              <a:t>六大平台PC与移动端关系总结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000"/>
              </a:spcAft>
              <a:defRPr sz="1800" b="0">
                <a:latin typeface="微软雅黑"/>
              </a:defRPr>
            </a:pPr>
            <a:r>
              <a:t>1. 定位区隔：PC端无一例外是“重度生产力”（多镜头编排、角色管理、资产沉淀）；移动端则退化为“单点工具”（单镜生成、文本助手、搜索）。</a:t>
            </a:r>
          </a:p>
          <a:p>
            <a:pPr>
              <a:spcAft>
                <a:spcPts val="1000"/>
              </a:spcAft>
              <a:defRPr sz="1800" b="0">
                <a:latin typeface="微软雅黑"/>
              </a:defRPr>
            </a:pPr>
            <a:r>
              <a:t>2. 流量引流：巨头（字节即梦、快手可灵）利用移动端App生成素材，随后直接引流至自家短视频App（抖音/快手）进行消费与流量扶持。</a:t>
            </a:r>
          </a:p>
          <a:p>
            <a:pPr>
              <a:spcAft>
                <a:spcPts val="1000"/>
              </a:spcAft>
              <a:defRPr sz="1800" b="0">
                <a:latin typeface="微软雅黑"/>
              </a:defRPr>
            </a:pPr>
            <a:r>
              <a:t>3. 生态剥离：独立厂商（纳米、天工、万兴）在移动端放弃了短剧专业工作流，转向做大众化的通用AI助手或修图剪辑。</a:t>
            </a:r>
          </a:p>
          <a:p>
            <a:pPr>
              <a:spcAft>
                <a:spcPts val="1000"/>
              </a:spcAft>
              <a:defRPr sz="1800" b="0">
                <a:latin typeface="微软雅黑"/>
              </a:defRPr>
            </a:pPr>
            <a:r>
              <a:t>4. 核心痛点：所有平台的移动端都缺乏“短剧”这个产品形态的连贯体验，用户无法在手机上完成“写剧本-选角色-生成多集-在线观看”的完整闭环。</a:t>
            </a:r>
          </a:p>
          <a:p>
            <a:pPr>
              <a:spcBef>
                <a:spcPts val="1400"/>
              </a:spcBef>
              <a:defRPr sz="1800" b="1">
                <a:solidFill>
                  <a:srgbClr val="FF0000"/>
                </a:solidFill>
                <a:latin typeface="微软雅黑"/>
              </a:defRPr>
            </a:pPr>
            <a:r>
              <a:t>【总结结论】移动端当前是一片“单点素材生成”的红海，但却是“一站式短剧创作与消费”的蓝海。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0" y="1828800"/>
            <a:ext cx="2286000" cy="4114800"/>
          </a:xfrm>
          <a:prstGeom prst="rect">
            <a:avLst/>
          </a:prstGeom>
          <a:solidFill>
            <a:srgbClr val="E6E6E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0">
                <a:solidFill>
                  <a:srgbClr val="646464"/>
                </a:solidFill>
                <a:latin typeface="微软雅黑"/>
              </a:defRPr>
            </a:pPr>
            <a:r>
              <a:t>移动端/产品截图占位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latin typeface="微软雅黑"/>
              </a:defRPr>
            </a:pPr>
            <a:r>
              <a:t>我们的移动端差异化竞争策略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000"/>
              </a:spcAft>
              <a:defRPr sz="1800" b="0">
                <a:latin typeface="微软雅黑"/>
              </a:defRPr>
            </a:pPr>
            <a:r>
              <a:t>【策略1：前店后厂，消费与创作闭环】</a:t>
            </a:r>
          </a:p>
          <a:p>
            <a:pPr>
              <a:spcAft>
                <a:spcPts val="1000"/>
              </a:spcAft>
              <a:defRPr sz="1800" b="0">
                <a:latin typeface="微软雅黑"/>
              </a:defRPr>
            </a:pPr>
            <a:r>
              <a:t>突破“纯工具”定位，移动端引入“类TikTok的短剧播放器”。用户在看剧时，可一键“改写结局”或“生成同款”，实现消费到创作的无缝转化。</a:t>
            </a:r>
          </a:p>
          <a:p>
            <a:pPr>
              <a:spcAft>
                <a:spcPts val="1000"/>
              </a:spcAft>
              <a:defRPr sz="1800" b="0">
                <a:latin typeface="微软雅黑"/>
              </a:defRPr>
            </a:pPr>
            <a:r>
              <a:t>【策略2：卡牌化/对话式极简交互】</a:t>
            </a:r>
          </a:p>
          <a:p>
            <a:pPr>
              <a:spcAft>
                <a:spcPts val="1000"/>
              </a:spcAft>
              <a:defRPr sz="1800" b="0">
                <a:latin typeface="微软雅黑"/>
              </a:defRPr>
            </a:pPr>
            <a:r>
              <a:t>放弃PC端复杂的时间线剪辑。在移动端采用“聊天式推进”或“卡牌翻页式”分镜管理，降低C端用户的短剧编排门槛。</a:t>
            </a:r>
          </a:p>
          <a:p>
            <a:pPr>
              <a:spcAft>
                <a:spcPts val="1000"/>
              </a:spcAft>
              <a:defRPr sz="1800" b="0">
                <a:latin typeface="微软雅黑"/>
              </a:defRPr>
            </a:pPr>
            <a:r>
              <a:t>【策略3：云端资产库互通】</a:t>
            </a:r>
          </a:p>
          <a:p>
            <a:pPr>
              <a:spcAft>
                <a:spcPts val="1000"/>
              </a:spcAft>
              <a:defRPr sz="1800" b="0">
                <a:latin typeface="微软雅黑"/>
              </a:defRPr>
            </a:pPr>
            <a:r>
              <a:t>PC端负责创建复杂的“专属AI演员和场景资产”，移动端直接调用云端资产进行快速的碎片化短剧续写与拼装。</a:t>
            </a:r>
          </a:p>
          <a:p>
            <a:pPr>
              <a:spcAft>
                <a:spcPts val="1000"/>
              </a:spcAft>
              <a:defRPr sz="1800" b="0">
                <a:latin typeface="微软雅黑"/>
              </a:defRPr>
            </a:pPr>
            <a:r>
              <a:t>【策略4：社区共创与互动玩法】</a:t>
            </a:r>
          </a:p>
          <a:p>
            <a:pPr>
              <a:spcAft>
                <a:spcPts val="1000"/>
              </a:spcAft>
              <a:defRPr sz="1800" b="0">
                <a:latin typeface="微软雅黑"/>
              </a:defRPr>
            </a:pPr>
            <a:r>
              <a:t>推出移动端专有的“接龙短剧”功能。官方发起第一集，用户用移动端轻量工具生成后续剧情，通过流量扶持与打赏分成实现拉新。</a:t>
            </a:r>
          </a:p>
          <a:p>
            <a:pPr>
              <a:spcBef>
                <a:spcPts val="1400"/>
              </a:spcBef>
              <a:defRPr sz="1800" b="1">
                <a:solidFill>
                  <a:srgbClr val="FF0000"/>
                </a:solidFill>
                <a:latin typeface="微软雅黑"/>
              </a:defRPr>
            </a:pPr>
            <a:r>
              <a:t>【总结结论】避开与PC端拼“工业级生成能力”，在移动端主打“消费带动轻创作、卡牌化极简交互、社区剧情接龙”，形成降维打击。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0" y="1828800"/>
            <a:ext cx="2286000" cy="4114800"/>
          </a:xfrm>
          <a:prstGeom prst="rect">
            <a:avLst/>
          </a:prstGeom>
          <a:solidFill>
            <a:srgbClr val="E6E6E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0">
                <a:solidFill>
                  <a:srgbClr val="646464"/>
                </a:solidFill>
                <a:latin typeface="微软雅黑"/>
              </a:defRPr>
            </a:pPr>
            <a:r>
              <a:t>移动端/产品截图占位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